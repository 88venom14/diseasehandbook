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8229600" cx="14630400"/>
  <p:notesSz cx="8229600" cy="146304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Source Sans 3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59996C-F798-4FCE-810E-1810B3C02BCB}">
  <a:tblStyle styleId="{AF59996C-F798-4FCE-810E-1810B3C02B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SourceSans3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Sans3-bold.fntdata"/><Relationship Id="rId6" Type="http://schemas.openxmlformats.org/officeDocument/2006/relationships/slide" Target="slides/slide1.xml"/><Relationship Id="rId18" Type="http://schemas.openxmlformats.org/officeDocument/2006/relationships/font" Target="fonts/SourceSans3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16554e8be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16554e8be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16554e8be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6554e8be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16554e8be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16554e8be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A1B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3225300" y="3764100"/>
            <a:ext cx="81798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</a:pPr>
            <a:r>
              <a:rPr b="1" lang="en-US" sz="5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Справочник болезней</a:t>
            </a:r>
            <a:endParaRPr b="0" i="0" sz="5200" u="none" cap="none" strike="noStrike"/>
          </a:p>
        </p:txBody>
      </p:sp>
      <p:sp>
        <p:nvSpPr>
          <p:cNvPr id="53" name="Google Shape;53;p12"/>
          <p:cNvSpPr txBox="1"/>
          <p:nvPr/>
        </p:nvSpPr>
        <p:spPr>
          <a:xfrm>
            <a:off x="0" y="7829400"/>
            <a:ext cx="360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Чернаков Артём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54" name="Google Shape;54;p12"/>
          <p:cNvGraphicFramePr/>
          <p:nvPr/>
        </p:nvGraphicFramePr>
        <p:xfrm>
          <a:off x="10086250" y="546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{AF59996C-F798-4FCE-810E-1810B3C02BCB}</a:tableStyleId>
              </a:tblPr>
              <a:tblGrid>
                <a:gridCol w="5272875"/>
              </a:tblGrid>
              <a:tr h="311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2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Google Shape;60;p13"/>
          <p:cNvGraphicFramePr/>
          <p:nvPr/>
        </p:nvGraphicFramePr>
        <p:xfrm>
          <a:off x="9357525" y="511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{AF59996C-F798-4FCE-810E-1810B3C02BCB}</a:tableStyleId>
              </a:tblPr>
              <a:tblGrid>
                <a:gridCol w="5272875"/>
              </a:tblGrid>
              <a:tr h="311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213"/>
                    </a:solidFill>
                  </a:tcPr>
                </a:tc>
              </a:tr>
            </a:tbl>
          </a:graphicData>
        </a:graphic>
      </p:graphicFrame>
      <p:sp>
        <p:nvSpPr>
          <p:cNvPr id="61" name="Google Shape;61;p13"/>
          <p:cNvSpPr/>
          <p:nvPr/>
        </p:nvSpPr>
        <p:spPr>
          <a:xfrm>
            <a:off x="5493001" y="2214025"/>
            <a:ext cx="3644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Краткий обзор</a:t>
            </a:r>
            <a:endParaRPr b="0" i="0" sz="350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3607033" y="2993231"/>
            <a:ext cx="2307600" cy="3174300"/>
          </a:xfrm>
          <a:prstGeom prst="roundRect">
            <a:avLst>
              <a:gd fmla="val 1605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3848825" y="3111173"/>
            <a:ext cx="18138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Цель</a:t>
            </a:r>
            <a:endParaRPr b="0" i="0" sz="220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3854025" y="3693132"/>
            <a:ext cx="1813800" cy="1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Быстрый доступ к проверенной медицинской информации — offline-first</a:t>
            </a:r>
            <a:endParaRPr b="0" i="0" sz="190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6161400" y="2993231"/>
            <a:ext cx="2307600" cy="3174300"/>
          </a:xfrm>
          <a:prstGeom prst="roundRect">
            <a:avLst>
              <a:gd fmla="val 1605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6470337" y="3111175"/>
            <a:ext cx="16797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Аудитория</a:t>
            </a:r>
            <a:endParaRPr b="0" i="0" sz="2200" u="none" cap="none" strike="noStrike"/>
          </a:p>
        </p:txBody>
      </p:sp>
      <p:sp>
        <p:nvSpPr>
          <p:cNvPr id="67" name="Google Shape;67;p13"/>
          <p:cNvSpPr/>
          <p:nvPr/>
        </p:nvSpPr>
        <p:spPr>
          <a:xfrm>
            <a:off x="6408300" y="3693124"/>
            <a:ext cx="18138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Врачи, медработники, пациенты и разработчики</a:t>
            </a:r>
            <a:endParaRPr b="0" i="0" sz="1900" u="none" cap="none" strike="noStrike"/>
          </a:p>
        </p:txBody>
      </p:sp>
      <p:sp>
        <p:nvSpPr>
          <p:cNvPr id="68" name="Google Shape;68;p13"/>
          <p:cNvSpPr/>
          <p:nvPr/>
        </p:nvSpPr>
        <p:spPr>
          <a:xfrm>
            <a:off x="8715767" y="2993231"/>
            <a:ext cx="2307600" cy="3174300"/>
          </a:xfrm>
          <a:prstGeom prst="roundRect">
            <a:avLst>
              <a:gd fmla="val 1605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8813975" y="3111175"/>
            <a:ext cx="21162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Ключевая особенность</a:t>
            </a:r>
            <a:endParaRPr b="0" i="0" sz="2200" u="none" cap="none" strike="noStrike"/>
          </a:p>
        </p:txBody>
      </p:sp>
      <p:sp>
        <p:nvSpPr>
          <p:cNvPr id="70" name="Google Shape;70;p13"/>
          <p:cNvSpPr/>
          <p:nvPr/>
        </p:nvSpPr>
        <p:spPr>
          <a:xfrm>
            <a:off x="8962575" y="4146248"/>
            <a:ext cx="18138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Source Sans 3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Google Sheets как гибкая, динамическая БД контента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4"/>
          <p:cNvGraphicFramePr/>
          <p:nvPr/>
        </p:nvGraphicFramePr>
        <p:xfrm>
          <a:off x="9357525" y="511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{AF59996C-F798-4FCE-810E-1810B3C02BCB}</a:tableStyleId>
              </a:tblPr>
              <a:tblGrid>
                <a:gridCol w="5272875"/>
              </a:tblGrid>
              <a:tr h="311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213"/>
                    </a:solidFill>
                  </a:tcPr>
                </a:tc>
              </a:tr>
            </a:tbl>
          </a:graphicData>
        </a:graphic>
      </p:graphicFrame>
      <p:sp>
        <p:nvSpPr>
          <p:cNvPr id="77" name="Google Shape;77;p14"/>
          <p:cNvSpPr/>
          <p:nvPr/>
        </p:nvSpPr>
        <p:spPr>
          <a:xfrm>
            <a:off x="863798" y="2227659"/>
            <a:ext cx="4487823" cy="560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Стек технологий</a:t>
            </a:r>
            <a:endParaRPr b="0" i="0" sz="35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2040612" y="3282196"/>
            <a:ext cx="1817489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Expo</a:t>
            </a:r>
            <a:endParaRPr b="0" i="0" sz="22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2040612" y="3780830"/>
            <a:ext cx="1817489" cy="22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Быстрая разработка, OTA-обновления, единый билд для iOS/Android</a:t>
            </a:r>
            <a:endParaRPr b="0" i="0" sz="160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5343406" y="3282196"/>
            <a:ext cx="1817489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React Native</a:t>
            </a:r>
            <a:endParaRPr b="0" i="0" sz="220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5343400" y="4131475"/>
            <a:ext cx="19176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Единая кодовая база UI, нативная производительность</a:t>
            </a:r>
            <a:endParaRPr b="0" i="0" sz="16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8646200" y="3282196"/>
            <a:ext cx="1817489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TypeScript</a:t>
            </a:r>
            <a:endParaRPr b="0" i="0" sz="220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8646200" y="3780830"/>
            <a:ext cx="1817489" cy="22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Строгая типизация, безопасность при масштабировании</a:t>
            </a:r>
            <a:endParaRPr b="0" i="0" sz="160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11948993" y="3282196"/>
            <a:ext cx="1817608" cy="701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Google Sheets API</a:t>
            </a:r>
            <a:endParaRPr b="0" i="0" sz="220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11948993" y="4131469"/>
            <a:ext cx="1817608" cy="1850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Динамический контент, простое редактирование для редакторов</a:t>
            </a:r>
            <a:endParaRPr b="0" i="0" sz="1600" u="none" cap="none" strike="noStrike"/>
          </a:p>
        </p:txBody>
      </p:sp>
      <p:pic>
        <p:nvPicPr>
          <p:cNvPr id="86" name="Google Shape;86;p14" title="expo-icon-l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533" y="3291699"/>
            <a:ext cx="1126901" cy="126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 title="React-icon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988" y="3282200"/>
            <a:ext cx="1326648" cy="118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 title="Typescript_logo_2020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2075" y="3291700"/>
            <a:ext cx="1242950" cy="124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 title="Google_Sheets_Logo_512p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84876" y="3291700"/>
            <a:ext cx="1242950" cy="1679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15"/>
          <p:cNvGraphicFramePr/>
          <p:nvPr/>
        </p:nvGraphicFramePr>
        <p:xfrm>
          <a:off x="9357525" y="511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{AF59996C-F798-4FCE-810E-1810B3C02BCB}</a:tableStyleId>
              </a:tblPr>
              <a:tblGrid>
                <a:gridCol w="5272875"/>
              </a:tblGrid>
              <a:tr h="311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213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5"/>
          <p:cNvSpPr/>
          <p:nvPr/>
        </p:nvSpPr>
        <p:spPr>
          <a:xfrm>
            <a:off x="9532144" y="798909"/>
            <a:ext cx="4244459" cy="782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Montserrat"/>
              <a:buNone/>
            </a:pPr>
            <a:r>
              <a:rPr b="1" i="0" lang="en-US" sz="24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 Google Sheets API</a:t>
            </a:r>
            <a:endParaRPr b="0" i="0" sz="245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9532144" y="1717119"/>
            <a:ext cx="17228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ontserrat"/>
              <a:buNone/>
            </a:pPr>
            <a:r>
              <a:t/>
            </a:r>
            <a:endParaRPr b="0" i="0" sz="13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9532144" y="1986915"/>
            <a:ext cx="4244459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9532144" y="2118717"/>
            <a:ext cx="2098596" cy="2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1. Структура таблиц</a:t>
            </a:r>
            <a:endParaRPr b="0" i="0" sz="1500" u="none" cap="none" strike="noStrike"/>
          </a:p>
        </p:txBody>
      </p:sp>
      <p:sp>
        <p:nvSpPr>
          <p:cNvPr id="100" name="Google Shape;100;p15"/>
          <p:cNvSpPr/>
          <p:nvPr/>
        </p:nvSpPr>
        <p:spPr>
          <a:xfrm>
            <a:off x="9532144" y="2483763"/>
            <a:ext cx="4244459" cy="438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Отдельные листы: Diseases, Symptoms, Treatments, References</a:t>
            </a:r>
            <a:endParaRPr b="0" i="0" sz="135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9532144" y="3441621"/>
            <a:ext cx="4244459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9532144" y="3573423"/>
            <a:ext cx="1957983" cy="2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2. Доступ</a:t>
            </a:r>
            <a:endParaRPr b="0" i="0" sz="1500" u="none" cap="none" strike="noStrike"/>
          </a:p>
        </p:txBody>
      </p:sp>
      <p:sp>
        <p:nvSpPr>
          <p:cNvPr id="103" name="Google Shape;103;p15"/>
          <p:cNvSpPr/>
          <p:nvPr/>
        </p:nvSpPr>
        <p:spPr>
          <a:xfrm>
            <a:off x="9532144" y="3938468"/>
            <a:ext cx="4244459" cy="438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Public read / OAuth / Service Account — выбор в зависимости от требований</a:t>
            </a:r>
            <a:endParaRPr b="0" i="0" sz="135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9532144" y="4626531"/>
            <a:ext cx="17228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ontserrat"/>
              <a:buNone/>
            </a:pPr>
            <a:r>
              <a:t/>
            </a:r>
            <a:endParaRPr b="0" i="0" sz="135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9532144" y="4896326"/>
            <a:ext cx="4244459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9532144" y="5028128"/>
            <a:ext cx="1957983" cy="2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3. Запросы</a:t>
            </a:r>
            <a:endParaRPr b="0" i="0" sz="1500" u="none" cap="none" strike="noStrike"/>
          </a:p>
        </p:txBody>
      </p:sp>
      <p:sp>
        <p:nvSpPr>
          <p:cNvPr id="107" name="Google Shape;107;p15"/>
          <p:cNvSpPr/>
          <p:nvPr/>
        </p:nvSpPr>
        <p:spPr>
          <a:xfrm>
            <a:off x="9532144" y="5393174"/>
            <a:ext cx="4244459" cy="438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Batch reads, фильтрация по ID, диапазоны для минимизации трафика</a:t>
            </a:r>
            <a:endParaRPr b="0" i="0" sz="13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9532144" y="6081236"/>
            <a:ext cx="17228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ontserrat"/>
              <a:buNone/>
            </a:pPr>
            <a:r>
              <a:t/>
            </a:r>
            <a:endParaRPr b="0" i="0" sz="135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9532144" y="6351032"/>
            <a:ext cx="4244459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9532144" y="6482834"/>
            <a:ext cx="1957983" cy="2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4. Авторитетность</a:t>
            </a:r>
            <a:endParaRPr b="0" i="0" sz="150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9532144" y="6847880"/>
            <a:ext cx="4244459" cy="438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Валидация данных, версии записей, метаданные источников</a:t>
            </a:r>
            <a:endParaRPr b="0" i="0" sz="1350" u="none" cap="none" strike="noStrike"/>
          </a:p>
        </p:txBody>
      </p:sp>
      <p:pic>
        <p:nvPicPr>
          <p:cNvPr id="112" name="Google Shape;112;p15" title="Screenshot 2026-03-20 at 20-04-20 table dir - Google Таблицы.png"/>
          <p:cNvPicPr preferRelativeResize="0"/>
          <p:nvPr/>
        </p:nvPicPr>
        <p:blipFill rotWithShape="1">
          <a:blip r:embed="rId3">
            <a:alphaModFix/>
          </a:blip>
          <a:srcRect b="28265" l="0" r="64720" t="2150"/>
          <a:stretch/>
        </p:blipFill>
        <p:spPr>
          <a:xfrm>
            <a:off x="681350" y="695175"/>
            <a:ext cx="7822700" cy="6839226"/>
          </a:xfrm>
          <a:prstGeom prst="rect">
            <a:avLst/>
          </a:prstGeom>
          <a:solidFill>
            <a:srgbClr val="4D4D5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16"/>
          <p:cNvGraphicFramePr/>
          <p:nvPr/>
        </p:nvGraphicFramePr>
        <p:xfrm>
          <a:off x="9357675" y="511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{AF59996C-F798-4FCE-810E-1810B3C02BCB}</a:tableStyleId>
              </a:tblPr>
              <a:tblGrid>
                <a:gridCol w="5272875"/>
              </a:tblGrid>
              <a:tr h="311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213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6"/>
          <p:cNvSpPr/>
          <p:nvPr/>
        </p:nvSpPr>
        <p:spPr>
          <a:xfrm>
            <a:off x="148" y="495275"/>
            <a:ext cx="14630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Адаптивность дизайна</a:t>
            </a:r>
            <a:endParaRPr b="0" i="0" sz="3500" u="none" cap="none" strike="noStrike"/>
          </a:p>
        </p:txBody>
      </p:sp>
      <p:sp>
        <p:nvSpPr>
          <p:cNvPr id="120" name="Google Shape;120;p16"/>
          <p:cNvSpPr/>
          <p:nvPr/>
        </p:nvSpPr>
        <p:spPr>
          <a:xfrm>
            <a:off x="2036763" y="1263825"/>
            <a:ext cx="18087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Мобильная версия</a:t>
            </a:r>
            <a:endParaRPr b="0" i="0" sz="220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7954987" y="2109825"/>
            <a:ext cx="18087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Веб-версия</a:t>
            </a:r>
            <a:endParaRPr b="0" i="0" sz="2200" u="none" cap="none" strike="noStrike"/>
          </a:p>
        </p:txBody>
      </p:sp>
      <p:pic>
        <p:nvPicPr>
          <p:cNvPr id="122" name="Google Shape;122;p16" title="Screenshot_17740262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413" y="2109813"/>
            <a:ext cx="2505376" cy="55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title="Screenshot 2026-03-20 at 20-03-30 Disease Handboo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6688" y="2852513"/>
            <a:ext cx="8165285" cy="4103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863798" y="2822615"/>
            <a:ext cx="6337816" cy="560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Синхронизация и офлайн</a:t>
            </a:r>
            <a:endParaRPr b="0" i="0" sz="350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863798" y="3753683"/>
            <a:ext cx="7416403" cy="1653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Calibri"/>
              <a:buAutoNum type="arabicPeriod"/>
            </a:pPr>
            <a:r>
              <a:rPr b="0" i="0" lang="en-US" sz="19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Локальный кэш (SQLite / AsyncStorage) — первичный источник при офлайн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Calibri"/>
              <a:buAutoNum type="arabicPeriod"/>
            </a:pPr>
            <a:r>
              <a:rPr b="0" i="0" lang="en-US" sz="19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Delta-sync при восстановлении соединения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Calibri"/>
              <a:buAutoNum type="arabicPeriod"/>
            </a:pPr>
            <a:r>
              <a:rPr b="0" i="0" lang="en-US" sz="19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Версионирование контента для отката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18"/>
          <p:cNvGraphicFramePr/>
          <p:nvPr/>
        </p:nvGraphicFramePr>
        <p:xfrm>
          <a:off x="9357525" y="511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{AF59996C-F798-4FCE-810E-1810B3C02BCB}</a:tableStyleId>
              </a:tblPr>
              <a:tblGrid>
                <a:gridCol w="5272875"/>
              </a:tblGrid>
              <a:tr h="311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213"/>
                    </a:solidFill>
                  </a:tcPr>
                </a:tc>
              </a:tr>
            </a:tbl>
          </a:graphicData>
        </a:graphic>
      </p:graphicFrame>
      <p:pic>
        <p:nvPicPr>
          <p:cNvPr id="138" name="Google Shape;138;p18" title="untitle-tmbIZ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638" y="1185238"/>
            <a:ext cx="5859123" cy="585912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3898350" y="325575"/>
            <a:ext cx="6833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</a:rPr>
              <a:t>Ссылка на репозиторий GitHub</a:t>
            </a:r>
            <a:endParaRPr b="1" sz="3300">
              <a:solidFill>
                <a:schemeClr val="lt1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265450" y="7280350"/>
            <a:ext cx="1009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</a:rPr>
              <a:t>https://github.com/88venom14/DiseaseHandbook</a:t>
            </a:r>
            <a:endParaRPr b="1" sz="33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/>
        </p:nvSpPr>
        <p:spPr>
          <a:xfrm>
            <a:off x="3244350" y="3060450"/>
            <a:ext cx="81417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</a:pPr>
            <a:r>
              <a:rPr b="1" lang="en-US" sz="5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</a:t>
            </a:r>
            <a:endParaRPr sz="5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</a:endParaRPr>
          </a:p>
        </p:txBody>
      </p:sp>
      <p:graphicFrame>
        <p:nvGraphicFramePr>
          <p:cNvPr id="147" name="Google Shape;147;p19"/>
          <p:cNvGraphicFramePr/>
          <p:nvPr/>
        </p:nvGraphicFramePr>
        <p:xfrm>
          <a:off x="9357525" y="511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{AF59996C-F798-4FCE-810E-1810B3C02BCB}</a:tableStyleId>
              </a:tblPr>
              <a:tblGrid>
                <a:gridCol w="5272875"/>
              </a:tblGrid>
              <a:tr h="311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2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181A1B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