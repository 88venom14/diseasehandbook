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8229600" cx="14630400"/>
  <p:notesSz cx="8229600" cy="14630400"/>
  <p:embeddedFontLst>
    <p:embeddedFont>
      <p:font typeface="Montserrat"/>
      <p:regular r:id="rId14"/>
      <p:bold r:id="rId15"/>
      <p:italic r:id="rId16"/>
      <p:boldItalic r:id="rId17"/>
    </p:embeddedFont>
    <p:embeddedFont>
      <p:font typeface="Source Sans 3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28478FD-A41A-4FFA-B756-52F0DB401186}">
  <a:tblStyle styleId="{E28478FD-A41A-4FFA-B756-52F0DB40118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SourceSans3-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schemas.openxmlformats.org/officeDocument/2006/relationships/font" Target="fonts/SourceSans3-bold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Montserrat-bold.fntdata"/><Relationship Id="rId14" Type="http://schemas.openxmlformats.org/officeDocument/2006/relationships/font" Target="fonts/Montserrat-regular.fntdata"/><Relationship Id="rId17" Type="http://schemas.openxmlformats.org/officeDocument/2006/relationships/font" Target="fonts/Montserrat-boldItalic.fntdata"/><Relationship Id="rId16" Type="http://schemas.openxmlformats.org/officeDocument/2006/relationships/font" Target="fonts/Montserrat-italic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SourceSans3-bold.fntdata"/><Relationship Id="rId6" Type="http://schemas.openxmlformats.org/officeDocument/2006/relationships/slide" Target="slides/slide1.xml"/><Relationship Id="rId18" Type="http://schemas.openxmlformats.org/officeDocument/2006/relationships/font" Target="fonts/SourceSans3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/>
              <a:t>‹#›</a:t>
            </a:fld>
            <a:endParaRPr b="0" i="0" sz="1200" u="none" cap="none" strike="noStrike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" name="Google Shape;4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" name="Google Shape;9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" name="Google Shape;12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d16554e8be_1_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d16554e8be_1_3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g3d16554e8be_1_3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d16554e8be_1_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d16554e8be_1_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g3d16554e8be_1_2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 master">
  <p:cSld name="Slide 1 master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" name="Google Shape;13;p2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2 master">
  <p:cSld name="Slide 2 mast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" name="Google Shape;16;p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7" name="Google Shape;17;p3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3 master">
  <p:cSld name="Slide 3 master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1" name="Google Shape;21;p4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4 master">
  <p:cSld name="Slide 4 mast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" name="Google Shape;25;p5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5 master">
  <p:cSld name="Slide 5 master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9" name="Google Shape;29;p6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6 master">
  <p:cSld name="Slide 6 mast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3" name="Google Shape;33;p7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7 master">
  <p:cSld name="Slide 7 mast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7" name="Google Shape;37;p8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8 master">
  <p:cSld name="Slide 8 mast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1" name="Google Shape;41;p9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9 master">
  <p:cSld name="Slide 9 master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1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5" name="Google Shape;45;p10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81A1B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10.png"/><Relationship Id="rId5" Type="http://schemas.openxmlformats.org/officeDocument/2006/relationships/image" Target="../media/image16.png"/><Relationship Id="rId6" Type="http://schemas.openxmlformats.org/officeDocument/2006/relationships/image" Target="../media/image1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/>
          <p:nvPr/>
        </p:nvSpPr>
        <p:spPr>
          <a:xfrm>
            <a:off x="3225300" y="3764100"/>
            <a:ext cx="8179800" cy="7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Montserrat"/>
              <a:buNone/>
            </a:pPr>
            <a:r>
              <a:rPr b="1" lang="en-US" sz="52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Справочник болезней</a:t>
            </a:r>
            <a:endParaRPr b="0" i="0" sz="5200" u="none" cap="none" strike="noStrike"/>
          </a:p>
        </p:txBody>
      </p:sp>
      <p:sp>
        <p:nvSpPr>
          <p:cNvPr id="53" name="Google Shape;53;p12"/>
          <p:cNvSpPr txBox="1"/>
          <p:nvPr/>
        </p:nvSpPr>
        <p:spPr>
          <a:xfrm>
            <a:off x="0" y="7829400"/>
            <a:ext cx="3607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lt1"/>
                </a:solidFill>
              </a:rPr>
              <a:t>Чернаков Артём</a:t>
            </a:r>
            <a:endParaRPr b="1">
              <a:solidFill>
                <a:schemeClr val="lt1"/>
              </a:solidFill>
            </a:endParaRPr>
          </a:p>
        </p:txBody>
      </p:sp>
      <p:graphicFrame>
        <p:nvGraphicFramePr>
          <p:cNvPr id="54" name="Google Shape;54;p12"/>
          <p:cNvGraphicFramePr/>
          <p:nvPr/>
        </p:nvGraphicFramePr>
        <p:xfrm>
          <a:off x="10086250" y="54629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{E28478FD-A41A-4FFA-B756-52F0DB401186}</a:tableStyleId>
              </a:tblPr>
              <a:tblGrid>
                <a:gridCol w="5272875"/>
              </a:tblGrid>
              <a:tr h="3112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21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0" name="Google Shape;60;p13"/>
          <p:cNvGraphicFramePr/>
          <p:nvPr/>
        </p:nvGraphicFramePr>
        <p:xfrm>
          <a:off x="9357525" y="5116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{E28478FD-A41A-4FFA-B756-52F0DB401186}</a:tableStyleId>
              </a:tblPr>
              <a:tblGrid>
                <a:gridCol w="5272875"/>
              </a:tblGrid>
              <a:tr h="3112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213"/>
                    </a:solidFill>
                  </a:tcPr>
                </a:tc>
              </a:tr>
            </a:tbl>
          </a:graphicData>
        </a:graphic>
      </p:graphicFrame>
      <p:sp>
        <p:nvSpPr>
          <p:cNvPr id="61" name="Google Shape;61;p13"/>
          <p:cNvSpPr/>
          <p:nvPr/>
        </p:nvSpPr>
        <p:spPr>
          <a:xfrm>
            <a:off x="5493001" y="2214025"/>
            <a:ext cx="3644400" cy="56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500"/>
              <a:buFont typeface="Montserrat"/>
              <a:buNone/>
            </a:pPr>
            <a:r>
              <a:rPr b="1" i="0" lang="en-US" sz="35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Краткий обзор</a:t>
            </a:r>
            <a:endParaRPr b="0" i="0" sz="3500" u="none" cap="none" strike="noStrike"/>
          </a:p>
        </p:txBody>
      </p:sp>
      <p:sp>
        <p:nvSpPr>
          <p:cNvPr id="62" name="Google Shape;62;p13"/>
          <p:cNvSpPr/>
          <p:nvPr/>
        </p:nvSpPr>
        <p:spPr>
          <a:xfrm>
            <a:off x="3607033" y="2993231"/>
            <a:ext cx="2307600" cy="3174300"/>
          </a:xfrm>
          <a:prstGeom prst="roundRect">
            <a:avLst>
              <a:gd fmla="val 1605" name="adj"/>
            </a:avLst>
          </a:prstGeom>
          <a:solidFill>
            <a:srgbClr val="3031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3"/>
          <p:cNvSpPr/>
          <p:nvPr/>
        </p:nvSpPr>
        <p:spPr>
          <a:xfrm>
            <a:off x="3848825" y="3111173"/>
            <a:ext cx="18138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Цель</a:t>
            </a:r>
            <a:endParaRPr b="0" i="0" sz="2200" u="none" cap="none" strike="noStrike"/>
          </a:p>
        </p:txBody>
      </p:sp>
      <p:sp>
        <p:nvSpPr>
          <p:cNvPr id="64" name="Google Shape;64;p13"/>
          <p:cNvSpPr/>
          <p:nvPr/>
        </p:nvSpPr>
        <p:spPr>
          <a:xfrm>
            <a:off x="3854025" y="3693132"/>
            <a:ext cx="1813800" cy="18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Source Sans 3"/>
              <a:buNone/>
            </a:pPr>
            <a:r>
              <a:rPr b="0" i="0" lang="en-US" sz="1900" u="none" cap="none" strike="noStrike">
                <a:solidFill>
                  <a:srgbClr val="E2E6E9"/>
                </a:solidFill>
                <a:latin typeface="Source Sans 3"/>
                <a:ea typeface="Source Sans 3"/>
                <a:cs typeface="Source Sans 3"/>
                <a:sym typeface="Source Sans 3"/>
              </a:rPr>
              <a:t>Быстрый доступ к проверенной медицинской информации — offline-first</a:t>
            </a:r>
            <a:endParaRPr b="0" i="0" sz="1900" u="none" cap="none" strike="noStrike"/>
          </a:p>
        </p:txBody>
      </p:sp>
      <p:sp>
        <p:nvSpPr>
          <p:cNvPr id="65" name="Google Shape;65;p13"/>
          <p:cNvSpPr/>
          <p:nvPr/>
        </p:nvSpPr>
        <p:spPr>
          <a:xfrm>
            <a:off x="6161400" y="2993231"/>
            <a:ext cx="2307600" cy="3174300"/>
          </a:xfrm>
          <a:prstGeom prst="roundRect">
            <a:avLst>
              <a:gd fmla="val 1605" name="adj"/>
            </a:avLst>
          </a:prstGeom>
          <a:solidFill>
            <a:srgbClr val="3031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13"/>
          <p:cNvSpPr/>
          <p:nvPr/>
        </p:nvSpPr>
        <p:spPr>
          <a:xfrm>
            <a:off x="6309750" y="3111175"/>
            <a:ext cx="19911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Аудитория</a:t>
            </a:r>
            <a:endParaRPr b="0" i="0" sz="2200" u="none" cap="none" strike="noStrike"/>
          </a:p>
        </p:txBody>
      </p:sp>
      <p:sp>
        <p:nvSpPr>
          <p:cNvPr id="67" name="Google Shape;67;p13"/>
          <p:cNvSpPr/>
          <p:nvPr/>
        </p:nvSpPr>
        <p:spPr>
          <a:xfrm>
            <a:off x="6408300" y="3693124"/>
            <a:ext cx="1813800" cy="17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Source Sans 3"/>
              <a:buNone/>
            </a:pPr>
            <a:r>
              <a:rPr b="0" i="0" lang="en-US" sz="1900" u="none" cap="none" strike="noStrike">
                <a:solidFill>
                  <a:srgbClr val="E2E6E9"/>
                </a:solidFill>
                <a:latin typeface="Source Sans 3"/>
                <a:ea typeface="Source Sans 3"/>
                <a:cs typeface="Source Sans 3"/>
                <a:sym typeface="Source Sans 3"/>
              </a:rPr>
              <a:t>Врачи, медработники, пациенты и разработчики</a:t>
            </a:r>
            <a:endParaRPr b="0" i="0" sz="1900" u="none" cap="none" strike="noStrike"/>
          </a:p>
        </p:txBody>
      </p:sp>
      <p:sp>
        <p:nvSpPr>
          <p:cNvPr id="68" name="Google Shape;68;p13"/>
          <p:cNvSpPr/>
          <p:nvPr/>
        </p:nvSpPr>
        <p:spPr>
          <a:xfrm>
            <a:off x="8715767" y="2993231"/>
            <a:ext cx="2307600" cy="3174300"/>
          </a:xfrm>
          <a:prstGeom prst="roundRect">
            <a:avLst>
              <a:gd fmla="val 1605" name="adj"/>
            </a:avLst>
          </a:prstGeom>
          <a:solidFill>
            <a:srgbClr val="3031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3"/>
          <p:cNvSpPr/>
          <p:nvPr/>
        </p:nvSpPr>
        <p:spPr>
          <a:xfrm>
            <a:off x="8813975" y="3111175"/>
            <a:ext cx="2116200" cy="8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Ключевая особенность</a:t>
            </a:r>
            <a:endParaRPr b="0" i="0" sz="2200" u="none" cap="none" strike="noStrike"/>
          </a:p>
        </p:txBody>
      </p:sp>
      <p:sp>
        <p:nvSpPr>
          <p:cNvPr id="70" name="Google Shape;70;p13"/>
          <p:cNvSpPr/>
          <p:nvPr/>
        </p:nvSpPr>
        <p:spPr>
          <a:xfrm>
            <a:off x="8962575" y="4146248"/>
            <a:ext cx="1813800" cy="17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Source Sans 3"/>
              <a:buNone/>
            </a:pPr>
            <a:r>
              <a:rPr b="0" i="0" lang="en-US" sz="1900" u="none" cap="none" strike="noStrike">
                <a:solidFill>
                  <a:srgbClr val="E2E6E9"/>
                </a:solidFill>
                <a:latin typeface="Source Sans 3"/>
                <a:ea typeface="Source Sans 3"/>
                <a:cs typeface="Source Sans 3"/>
                <a:sym typeface="Source Sans 3"/>
              </a:rPr>
              <a:t>Google Sheets как гибкая, динамическая БД контента</a:t>
            </a:r>
            <a:endParaRPr b="0" i="0" sz="1900" u="none" cap="none" strike="noStrike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6" name="Google Shape;76;p14"/>
          <p:cNvGraphicFramePr/>
          <p:nvPr/>
        </p:nvGraphicFramePr>
        <p:xfrm>
          <a:off x="9357525" y="5116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{E28478FD-A41A-4FFA-B756-52F0DB401186}</a:tableStyleId>
              </a:tblPr>
              <a:tblGrid>
                <a:gridCol w="5272875"/>
              </a:tblGrid>
              <a:tr h="3112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213"/>
                    </a:solidFill>
                  </a:tcPr>
                </a:tc>
              </a:tr>
            </a:tbl>
          </a:graphicData>
        </a:graphic>
      </p:graphicFrame>
      <p:sp>
        <p:nvSpPr>
          <p:cNvPr id="77" name="Google Shape;77;p14"/>
          <p:cNvSpPr/>
          <p:nvPr/>
        </p:nvSpPr>
        <p:spPr>
          <a:xfrm>
            <a:off x="863798" y="2227659"/>
            <a:ext cx="4487823" cy="560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500"/>
              <a:buFont typeface="Montserrat"/>
              <a:buNone/>
            </a:pPr>
            <a:r>
              <a:rPr b="1" i="0" lang="en-US" sz="35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Стек технологий</a:t>
            </a:r>
            <a:endParaRPr b="0" i="0" sz="3500" u="none" cap="none" strike="noStrike"/>
          </a:p>
        </p:txBody>
      </p:sp>
      <p:sp>
        <p:nvSpPr>
          <p:cNvPr id="78" name="Google Shape;78;p14"/>
          <p:cNvSpPr/>
          <p:nvPr/>
        </p:nvSpPr>
        <p:spPr>
          <a:xfrm>
            <a:off x="2040612" y="3282196"/>
            <a:ext cx="1817489" cy="350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Expo</a:t>
            </a:r>
            <a:endParaRPr b="0" i="0" sz="2200" u="none" cap="none" strike="noStrike"/>
          </a:p>
        </p:txBody>
      </p:sp>
      <p:sp>
        <p:nvSpPr>
          <p:cNvPr id="79" name="Google Shape;79;p14"/>
          <p:cNvSpPr/>
          <p:nvPr/>
        </p:nvSpPr>
        <p:spPr>
          <a:xfrm>
            <a:off x="2040601" y="3780825"/>
            <a:ext cx="1724400" cy="22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Source Sans 3"/>
              <a:buNone/>
            </a:pPr>
            <a:r>
              <a:rPr b="0" i="0" lang="en-US" sz="1600" u="none" cap="none" strike="noStrike">
                <a:solidFill>
                  <a:srgbClr val="E2E6E9"/>
                </a:solidFill>
                <a:latin typeface="Source Sans 3"/>
                <a:ea typeface="Source Sans 3"/>
                <a:cs typeface="Source Sans 3"/>
                <a:sym typeface="Source Sans 3"/>
              </a:rPr>
              <a:t>Быстрая разработка, OTA-обновления, единый билд для iOS/Android</a:t>
            </a:r>
            <a:endParaRPr b="0" i="0" sz="1600" u="none" cap="none" strike="noStrike"/>
          </a:p>
        </p:txBody>
      </p:sp>
      <p:sp>
        <p:nvSpPr>
          <p:cNvPr id="80" name="Google Shape;80;p14"/>
          <p:cNvSpPr/>
          <p:nvPr/>
        </p:nvSpPr>
        <p:spPr>
          <a:xfrm>
            <a:off x="5343406" y="3282196"/>
            <a:ext cx="1817489" cy="7012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React Native</a:t>
            </a:r>
            <a:endParaRPr b="0" i="0" sz="2200" u="none" cap="none" strike="noStrike"/>
          </a:p>
        </p:txBody>
      </p:sp>
      <p:sp>
        <p:nvSpPr>
          <p:cNvPr id="81" name="Google Shape;81;p14"/>
          <p:cNvSpPr/>
          <p:nvPr/>
        </p:nvSpPr>
        <p:spPr>
          <a:xfrm>
            <a:off x="5343400" y="4131475"/>
            <a:ext cx="1772400" cy="8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Source Sans 3"/>
              <a:buNone/>
            </a:pPr>
            <a:r>
              <a:rPr b="0" i="0" lang="en-US" sz="1600" u="none" cap="none" strike="noStrike">
                <a:solidFill>
                  <a:srgbClr val="E2E6E9"/>
                </a:solidFill>
                <a:latin typeface="Source Sans 3"/>
                <a:ea typeface="Source Sans 3"/>
                <a:cs typeface="Source Sans 3"/>
                <a:sym typeface="Source Sans 3"/>
              </a:rPr>
              <a:t>Единая кодовая база UI</a:t>
            </a:r>
            <a:endParaRPr b="0" i="0" sz="1600" u="none" cap="none" strike="noStrike"/>
          </a:p>
        </p:txBody>
      </p:sp>
      <p:sp>
        <p:nvSpPr>
          <p:cNvPr id="82" name="Google Shape;82;p14"/>
          <p:cNvSpPr/>
          <p:nvPr/>
        </p:nvSpPr>
        <p:spPr>
          <a:xfrm>
            <a:off x="8646200" y="3282196"/>
            <a:ext cx="1817489" cy="350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TypeScript</a:t>
            </a:r>
            <a:endParaRPr b="0" i="0" sz="2200" u="none" cap="none" strike="noStrike"/>
          </a:p>
        </p:txBody>
      </p:sp>
      <p:sp>
        <p:nvSpPr>
          <p:cNvPr id="83" name="Google Shape;83;p14"/>
          <p:cNvSpPr/>
          <p:nvPr/>
        </p:nvSpPr>
        <p:spPr>
          <a:xfrm>
            <a:off x="8646200" y="3780825"/>
            <a:ext cx="1724400" cy="22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Source Sans 3"/>
              <a:buNone/>
            </a:pPr>
            <a:r>
              <a:rPr b="0" i="0" lang="en-US" sz="1600" u="none" cap="none" strike="noStrike">
                <a:solidFill>
                  <a:srgbClr val="E2E6E9"/>
                </a:solidFill>
                <a:latin typeface="Source Sans 3"/>
                <a:ea typeface="Source Sans 3"/>
                <a:cs typeface="Source Sans 3"/>
                <a:sym typeface="Source Sans 3"/>
              </a:rPr>
              <a:t>Строгая типизация, безопасность при масштабировании</a:t>
            </a:r>
            <a:endParaRPr b="0" i="0" sz="1600" u="none" cap="none" strike="noStrike"/>
          </a:p>
        </p:txBody>
      </p:sp>
      <p:sp>
        <p:nvSpPr>
          <p:cNvPr id="84" name="Google Shape;84;p14"/>
          <p:cNvSpPr/>
          <p:nvPr/>
        </p:nvSpPr>
        <p:spPr>
          <a:xfrm>
            <a:off x="11948993" y="3282196"/>
            <a:ext cx="1817608" cy="7012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Google Sheets API</a:t>
            </a:r>
            <a:endParaRPr b="0" i="0" sz="2200" u="none" cap="none" strike="noStrike"/>
          </a:p>
        </p:txBody>
      </p:sp>
      <p:sp>
        <p:nvSpPr>
          <p:cNvPr id="85" name="Google Shape;85;p14"/>
          <p:cNvSpPr/>
          <p:nvPr/>
        </p:nvSpPr>
        <p:spPr>
          <a:xfrm>
            <a:off x="11949000" y="4131475"/>
            <a:ext cx="1724400" cy="18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Source Sans 3"/>
              <a:buNone/>
            </a:pPr>
            <a:r>
              <a:rPr b="0" i="0" lang="en-US" sz="1600" u="none" cap="none" strike="noStrike">
                <a:solidFill>
                  <a:srgbClr val="E2E6E9"/>
                </a:solidFill>
                <a:latin typeface="Source Sans 3"/>
                <a:ea typeface="Source Sans 3"/>
                <a:cs typeface="Source Sans 3"/>
                <a:sym typeface="Source Sans 3"/>
              </a:rPr>
              <a:t>Динамический контент, простое редактирование для редакторов</a:t>
            </a:r>
            <a:endParaRPr b="0" i="0" sz="1600" u="none" cap="none" strike="noStrike"/>
          </a:p>
        </p:txBody>
      </p:sp>
      <p:pic>
        <p:nvPicPr>
          <p:cNvPr id="86" name="Google Shape;86;p14" title="expo-icon-lg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2533" y="3291699"/>
            <a:ext cx="1126901" cy="1261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4" title="React-icon.svg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96988" y="3282200"/>
            <a:ext cx="1326648" cy="1180273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4" title="Typescript_logo_2020.svg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82075" y="3291700"/>
            <a:ext cx="1242950" cy="1242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4" title="Google_Sheets_Logo_512px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84876" y="3291700"/>
            <a:ext cx="1242950" cy="16791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5" name="Google Shape;95;p15"/>
          <p:cNvGraphicFramePr/>
          <p:nvPr/>
        </p:nvGraphicFramePr>
        <p:xfrm>
          <a:off x="9357525" y="5116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{E28478FD-A41A-4FFA-B756-52F0DB401186}</a:tableStyleId>
              </a:tblPr>
              <a:tblGrid>
                <a:gridCol w="5272875"/>
              </a:tblGrid>
              <a:tr h="3112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213"/>
                    </a:solidFill>
                  </a:tcPr>
                </a:tc>
              </a:tr>
            </a:tbl>
          </a:graphicData>
        </a:graphic>
      </p:graphicFrame>
      <p:sp>
        <p:nvSpPr>
          <p:cNvPr id="96" name="Google Shape;96;p15"/>
          <p:cNvSpPr/>
          <p:nvPr/>
        </p:nvSpPr>
        <p:spPr>
          <a:xfrm>
            <a:off x="9532144" y="798909"/>
            <a:ext cx="4244459" cy="782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48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50"/>
              <a:buFont typeface="Montserrat"/>
              <a:buNone/>
            </a:pPr>
            <a:r>
              <a:rPr b="1" i="0" lang="en-US" sz="24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Интеграция с Google Sheets API</a:t>
            </a:r>
            <a:endParaRPr b="0" i="0" sz="2450" u="none" cap="none" strike="noStrike"/>
          </a:p>
        </p:txBody>
      </p:sp>
      <p:sp>
        <p:nvSpPr>
          <p:cNvPr id="97" name="Google Shape;97;p15"/>
          <p:cNvSpPr/>
          <p:nvPr/>
        </p:nvSpPr>
        <p:spPr>
          <a:xfrm>
            <a:off x="9532144" y="1717119"/>
            <a:ext cx="172283" cy="2152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350"/>
              <a:buFont typeface="Montserrat"/>
              <a:buNone/>
            </a:pPr>
            <a:r>
              <a:t/>
            </a:r>
            <a:endParaRPr b="0" i="0" sz="1350" u="none" cap="none" strike="noStrike"/>
          </a:p>
        </p:txBody>
      </p:sp>
      <p:sp>
        <p:nvSpPr>
          <p:cNvPr id="98" name="Google Shape;98;p15"/>
          <p:cNvSpPr/>
          <p:nvPr/>
        </p:nvSpPr>
        <p:spPr>
          <a:xfrm>
            <a:off x="9532144" y="1986915"/>
            <a:ext cx="4244459" cy="228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5"/>
          <p:cNvSpPr/>
          <p:nvPr/>
        </p:nvSpPr>
        <p:spPr>
          <a:xfrm>
            <a:off x="9532144" y="2118717"/>
            <a:ext cx="2098596" cy="2447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666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500"/>
              <a:buFont typeface="Montserrat"/>
              <a:buNone/>
            </a:pPr>
            <a:r>
              <a:rPr b="1" i="0" lang="en-US" sz="15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1. Структура таблиц</a:t>
            </a:r>
            <a:endParaRPr b="0" i="0" sz="1500" u="none" cap="none" strike="noStrike"/>
          </a:p>
        </p:txBody>
      </p:sp>
      <p:sp>
        <p:nvSpPr>
          <p:cNvPr id="100" name="Google Shape;100;p15"/>
          <p:cNvSpPr/>
          <p:nvPr/>
        </p:nvSpPr>
        <p:spPr>
          <a:xfrm>
            <a:off x="9532144" y="2483763"/>
            <a:ext cx="4244459" cy="4386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350"/>
              <a:buFont typeface="Source Sans 3"/>
              <a:buNone/>
            </a:pPr>
            <a:r>
              <a:rPr b="0" i="0" lang="en-US" sz="1350" u="none" cap="none" strike="noStrike">
                <a:solidFill>
                  <a:srgbClr val="E2E6E9"/>
                </a:solidFill>
                <a:latin typeface="Source Sans 3"/>
                <a:ea typeface="Source Sans 3"/>
                <a:cs typeface="Source Sans 3"/>
                <a:sym typeface="Source Sans 3"/>
              </a:rPr>
              <a:t>Отдельные листы: Diseases, Symptoms, Treatments, References</a:t>
            </a:r>
            <a:endParaRPr b="0" i="0" sz="1350" u="none" cap="none" strike="noStrike"/>
          </a:p>
        </p:txBody>
      </p:sp>
      <p:sp>
        <p:nvSpPr>
          <p:cNvPr id="101" name="Google Shape;101;p15"/>
          <p:cNvSpPr/>
          <p:nvPr/>
        </p:nvSpPr>
        <p:spPr>
          <a:xfrm>
            <a:off x="9532144" y="3441621"/>
            <a:ext cx="4244459" cy="228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5"/>
          <p:cNvSpPr/>
          <p:nvPr/>
        </p:nvSpPr>
        <p:spPr>
          <a:xfrm>
            <a:off x="9532144" y="3573423"/>
            <a:ext cx="1957983" cy="2447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666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500"/>
              <a:buFont typeface="Montserrat"/>
              <a:buNone/>
            </a:pPr>
            <a:r>
              <a:rPr b="1" i="0" lang="en-US" sz="15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2. Доступ</a:t>
            </a:r>
            <a:endParaRPr b="0" i="0" sz="1500" u="none" cap="none" strike="noStrike"/>
          </a:p>
        </p:txBody>
      </p:sp>
      <p:sp>
        <p:nvSpPr>
          <p:cNvPr id="103" name="Google Shape;103;p15"/>
          <p:cNvSpPr/>
          <p:nvPr/>
        </p:nvSpPr>
        <p:spPr>
          <a:xfrm>
            <a:off x="9532144" y="3938468"/>
            <a:ext cx="4244459" cy="4386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350"/>
              <a:buFont typeface="Source Sans 3"/>
              <a:buNone/>
            </a:pPr>
            <a:r>
              <a:rPr b="0" i="0" lang="en-US" sz="1350" u="none" cap="none" strike="noStrike">
                <a:solidFill>
                  <a:srgbClr val="E2E6E9"/>
                </a:solidFill>
                <a:latin typeface="Source Sans 3"/>
                <a:ea typeface="Source Sans 3"/>
                <a:cs typeface="Source Sans 3"/>
                <a:sym typeface="Source Sans 3"/>
              </a:rPr>
              <a:t>Public read / OAuth / Service Account — выбор в зависимости от требований</a:t>
            </a:r>
            <a:endParaRPr b="0" i="0" sz="1350" u="none" cap="none" strike="noStrike"/>
          </a:p>
        </p:txBody>
      </p:sp>
      <p:sp>
        <p:nvSpPr>
          <p:cNvPr id="104" name="Google Shape;104;p15"/>
          <p:cNvSpPr/>
          <p:nvPr/>
        </p:nvSpPr>
        <p:spPr>
          <a:xfrm>
            <a:off x="9532144" y="4626531"/>
            <a:ext cx="172283" cy="2152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350"/>
              <a:buFont typeface="Montserrat"/>
              <a:buNone/>
            </a:pPr>
            <a:r>
              <a:t/>
            </a:r>
            <a:endParaRPr b="0" i="0" sz="1350" u="none" cap="none" strike="noStrike"/>
          </a:p>
        </p:txBody>
      </p:sp>
      <p:sp>
        <p:nvSpPr>
          <p:cNvPr id="105" name="Google Shape;105;p15"/>
          <p:cNvSpPr/>
          <p:nvPr/>
        </p:nvSpPr>
        <p:spPr>
          <a:xfrm>
            <a:off x="9532144" y="4896326"/>
            <a:ext cx="4244459" cy="228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5"/>
          <p:cNvSpPr/>
          <p:nvPr/>
        </p:nvSpPr>
        <p:spPr>
          <a:xfrm>
            <a:off x="9532144" y="5028128"/>
            <a:ext cx="1957983" cy="2447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666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500"/>
              <a:buFont typeface="Montserrat"/>
              <a:buNone/>
            </a:pPr>
            <a:r>
              <a:rPr b="1" i="0" lang="en-US" sz="15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3. Запросы</a:t>
            </a:r>
            <a:endParaRPr b="0" i="0" sz="1500" u="none" cap="none" strike="noStrike"/>
          </a:p>
        </p:txBody>
      </p:sp>
      <p:sp>
        <p:nvSpPr>
          <p:cNvPr id="107" name="Google Shape;107;p15"/>
          <p:cNvSpPr/>
          <p:nvPr/>
        </p:nvSpPr>
        <p:spPr>
          <a:xfrm>
            <a:off x="9532144" y="5393174"/>
            <a:ext cx="4244459" cy="4386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350"/>
              <a:buFont typeface="Source Sans 3"/>
              <a:buNone/>
            </a:pPr>
            <a:r>
              <a:rPr b="0" i="0" lang="en-US" sz="1350" u="none" cap="none" strike="noStrike">
                <a:solidFill>
                  <a:srgbClr val="E2E6E9"/>
                </a:solidFill>
                <a:latin typeface="Source Sans 3"/>
                <a:ea typeface="Source Sans 3"/>
                <a:cs typeface="Source Sans 3"/>
                <a:sym typeface="Source Sans 3"/>
              </a:rPr>
              <a:t>Batch reads, фильтрация по ID, диапазоны для минимизации трафика</a:t>
            </a:r>
            <a:endParaRPr b="0" i="0" sz="1350" u="none" cap="none" strike="noStrike"/>
          </a:p>
        </p:txBody>
      </p:sp>
      <p:sp>
        <p:nvSpPr>
          <p:cNvPr id="108" name="Google Shape;108;p15"/>
          <p:cNvSpPr/>
          <p:nvPr/>
        </p:nvSpPr>
        <p:spPr>
          <a:xfrm>
            <a:off x="9532144" y="6081236"/>
            <a:ext cx="172283" cy="2152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350"/>
              <a:buFont typeface="Montserrat"/>
              <a:buNone/>
            </a:pPr>
            <a:r>
              <a:t/>
            </a:r>
            <a:endParaRPr b="0" i="0" sz="1350" u="none" cap="none" strike="noStrike"/>
          </a:p>
        </p:txBody>
      </p:sp>
      <p:sp>
        <p:nvSpPr>
          <p:cNvPr id="109" name="Google Shape;109;p15"/>
          <p:cNvSpPr/>
          <p:nvPr/>
        </p:nvSpPr>
        <p:spPr>
          <a:xfrm>
            <a:off x="9532144" y="6351032"/>
            <a:ext cx="4244459" cy="228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5"/>
          <p:cNvSpPr/>
          <p:nvPr/>
        </p:nvSpPr>
        <p:spPr>
          <a:xfrm>
            <a:off x="9532144" y="6482834"/>
            <a:ext cx="1957983" cy="2447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666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500"/>
              <a:buFont typeface="Montserrat"/>
              <a:buNone/>
            </a:pPr>
            <a:r>
              <a:rPr b="1" i="0" lang="en-US" sz="15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4. Авторитетность</a:t>
            </a:r>
            <a:endParaRPr b="0" i="0" sz="1500" u="none" cap="none" strike="noStrike"/>
          </a:p>
        </p:txBody>
      </p:sp>
      <p:sp>
        <p:nvSpPr>
          <p:cNvPr id="111" name="Google Shape;111;p15"/>
          <p:cNvSpPr/>
          <p:nvPr/>
        </p:nvSpPr>
        <p:spPr>
          <a:xfrm>
            <a:off x="9532144" y="6847880"/>
            <a:ext cx="4244459" cy="4386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350"/>
              <a:buFont typeface="Source Sans 3"/>
              <a:buNone/>
            </a:pPr>
            <a:r>
              <a:rPr b="0" i="0" lang="en-US" sz="1350" u="none" cap="none" strike="noStrike">
                <a:solidFill>
                  <a:srgbClr val="E2E6E9"/>
                </a:solidFill>
                <a:latin typeface="Source Sans 3"/>
                <a:ea typeface="Source Sans 3"/>
                <a:cs typeface="Source Sans 3"/>
                <a:sym typeface="Source Sans 3"/>
              </a:rPr>
              <a:t>Валидация данных, версии записей, метаданные источников</a:t>
            </a:r>
            <a:endParaRPr b="0" i="0" sz="1350" u="none" cap="none" strike="noStrike"/>
          </a:p>
        </p:txBody>
      </p:sp>
      <p:pic>
        <p:nvPicPr>
          <p:cNvPr id="112" name="Google Shape;112;p15" title="Screenshot 2026-03-20 at 20-04-20 table dir - Google Таблицы.png"/>
          <p:cNvPicPr preferRelativeResize="0"/>
          <p:nvPr/>
        </p:nvPicPr>
        <p:blipFill rotWithShape="1">
          <a:blip r:embed="rId3">
            <a:alphaModFix/>
          </a:blip>
          <a:srcRect b="28265" l="0" r="64720" t="2150"/>
          <a:stretch/>
        </p:blipFill>
        <p:spPr>
          <a:xfrm>
            <a:off x="681350" y="695175"/>
            <a:ext cx="7822700" cy="6839226"/>
          </a:xfrm>
          <a:prstGeom prst="rect">
            <a:avLst/>
          </a:prstGeom>
          <a:solidFill>
            <a:srgbClr val="4D4D51"/>
          </a:solidFill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16"/>
          <p:cNvGraphicFramePr/>
          <p:nvPr/>
        </p:nvGraphicFramePr>
        <p:xfrm>
          <a:off x="9357675" y="5116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{E28478FD-A41A-4FFA-B756-52F0DB401186}</a:tableStyleId>
              </a:tblPr>
              <a:tblGrid>
                <a:gridCol w="5272875"/>
              </a:tblGrid>
              <a:tr h="3112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213"/>
                    </a:solidFill>
                  </a:tcPr>
                </a:tc>
              </a:tr>
            </a:tbl>
          </a:graphicData>
        </a:graphic>
      </p:graphicFrame>
      <p:sp>
        <p:nvSpPr>
          <p:cNvPr id="119" name="Google Shape;119;p16"/>
          <p:cNvSpPr/>
          <p:nvPr/>
        </p:nvSpPr>
        <p:spPr>
          <a:xfrm>
            <a:off x="148" y="495275"/>
            <a:ext cx="14630400" cy="56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500"/>
              <a:buFont typeface="Montserrat"/>
              <a:buNone/>
            </a:pPr>
            <a:r>
              <a:rPr b="1" i="0" lang="en-US" sz="35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Адаптивность дизайна</a:t>
            </a:r>
            <a:endParaRPr b="0" i="0" sz="3500" u="none" cap="none" strike="noStrike"/>
          </a:p>
        </p:txBody>
      </p:sp>
      <p:sp>
        <p:nvSpPr>
          <p:cNvPr id="120" name="Google Shape;120;p16"/>
          <p:cNvSpPr/>
          <p:nvPr/>
        </p:nvSpPr>
        <p:spPr>
          <a:xfrm>
            <a:off x="2036763" y="1263825"/>
            <a:ext cx="1808700" cy="7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Мобильная версия</a:t>
            </a:r>
            <a:endParaRPr b="0" i="0" sz="2200" u="none" cap="none" strike="noStrike"/>
          </a:p>
        </p:txBody>
      </p:sp>
      <p:sp>
        <p:nvSpPr>
          <p:cNvPr id="121" name="Google Shape;121;p16"/>
          <p:cNvSpPr/>
          <p:nvPr/>
        </p:nvSpPr>
        <p:spPr>
          <a:xfrm>
            <a:off x="7954987" y="2109825"/>
            <a:ext cx="18087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Веб-версия</a:t>
            </a:r>
            <a:endParaRPr b="0" i="0" sz="2200" u="none" cap="none" strike="noStrike"/>
          </a:p>
        </p:txBody>
      </p:sp>
      <p:pic>
        <p:nvPicPr>
          <p:cNvPr id="122" name="Google Shape;122;p16" title="Screenshot_177402626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88413" y="2109813"/>
            <a:ext cx="2505376" cy="5589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6" title="Screenshot 2026-03-20 at 20-03-30 Disease Handbook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76688" y="2852513"/>
            <a:ext cx="8165285" cy="41039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29" name="Google Shape;12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0" y="0"/>
            <a:ext cx="5486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7"/>
          <p:cNvSpPr/>
          <p:nvPr/>
        </p:nvSpPr>
        <p:spPr>
          <a:xfrm>
            <a:off x="863798" y="2822615"/>
            <a:ext cx="6337816" cy="560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500"/>
              <a:buFont typeface="Montserrat"/>
              <a:buNone/>
            </a:pPr>
            <a:r>
              <a:rPr b="1" i="0" lang="en-US" sz="35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Синхронизация и офлайн</a:t>
            </a:r>
            <a:endParaRPr b="0" i="0" sz="3500" u="none" cap="none" strike="noStrike"/>
          </a:p>
        </p:txBody>
      </p:sp>
      <p:sp>
        <p:nvSpPr>
          <p:cNvPr id="131" name="Google Shape;131;p17"/>
          <p:cNvSpPr/>
          <p:nvPr/>
        </p:nvSpPr>
        <p:spPr>
          <a:xfrm>
            <a:off x="863798" y="3753683"/>
            <a:ext cx="7416403" cy="16533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Calibri"/>
              <a:buAutoNum type="arabicPeriod"/>
            </a:pPr>
            <a:r>
              <a:rPr b="0" i="0" lang="en-US" sz="1900" u="none" cap="none" strike="noStrike">
                <a:solidFill>
                  <a:srgbClr val="E2E6E9"/>
                </a:solidFill>
                <a:latin typeface="Source Sans 3"/>
                <a:ea typeface="Source Sans 3"/>
                <a:cs typeface="Source Sans 3"/>
                <a:sym typeface="Source Sans 3"/>
              </a:rPr>
              <a:t>Локальный кэш (SQLite / AsyncStorage) — первичный источник при офлайн</a:t>
            </a:r>
            <a:endParaRPr b="0" i="0" sz="1900" u="none" cap="none" strike="noStrike"/>
          </a:p>
          <a:p>
            <a:pPr indent="-342900" lvl="0" marL="34290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Calibri"/>
              <a:buAutoNum type="arabicPeriod"/>
            </a:pPr>
            <a:r>
              <a:rPr b="0" i="0" lang="en-US" sz="1900" u="none" cap="none" strike="noStrike">
                <a:solidFill>
                  <a:srgbClr val="E2E6E9"/>
                </a:solidFill>
                <a:latin typeface="Source Sans 3"/>
                <a:ea typeface="Source Sans 3"/>
                <a:cs typeface="Source Sans 3"/>
                <a:sym typeface="Source Sans 3"/>
              </a:rPr>
              <a:t>Delta-sync при восстановлении соединения</a:t>
            </a:r>
            <a:endParaRPr b="0" i="0" sz="1900" u="none" cap="none" strike="noStrike"/>
          </a:p>
          <a:p>
            <a:pPr indent="-342900" lvl="0" marL="34290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Calibri"/>
              <a:buAutoNum type="arabicPeriod"/>
            </a:pPr>
            <a:r>
              <a:rPr b="0" i="0" lang="en-US" sz="1900" u="none" cap="none" strike="noStrike">
                <a:solidFill>
                  <a:srgbClr val="E2E6E9"/>
                </a:solidFill>
                <a:latin typeface="Source Sans 3"/>
                <a:ea typeface="Source Sans 3"/>
                <a:cs typeface="Source Sans 3"/>
                <a:sym typeface="Source Sans 3"/>
              </a:rPr>
              <a:t>Версионирование контента для отката</a:t>
            </a:r>
            <a:endParaRPr b="0" i="0" sz="1900" u="none" cap="none" strike="noStrike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" name="Google Shape;137;p18"/>
          <p:cNvGraphicFramePr/>
          <p:nvPr/>
        </p:nvGraphicFramePr>
        <p:xfrm>
          <a:off x="9357525" y="5116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{E28478FD-A41A-4FFA-B756-52F0DB401186}</a:tableStyleId>
              </a:tblPr>
              <a:tblGrid>
                <a:gridCol w="5272875"/>
              </a:tblGrid>
              <a:tr h="3112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213"/>
                    </a:solidFill>
                  </a:tcPr>
                </a:tc>
              </a:tr>
            </a:tbl>
          </a:graphicData>
        </a:graphic>
      </p:graphicFrame>
      <p:pic>
        <p:nvPicPr>
          <p:cNvPr id="138" name="Google Shape;138;p18" title="untitle-tmbIZK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5638" y="1185238"/>
            <a:ext cx="5859123" cy="5859123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8"/>
          <p:cNvSpPr txBox="1"/>
          <p:nvPr/>
        </p:nvSpPr>
        <p:spPr>
          <a:xfrm>
            <a:off x="3898350" y="325575"/>
            <a:ext cx="68337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chemeClr val="lt1"/>
                </a:solidFill>
              </a:rPr>
              <a:t>Ссылка на репозиторий GitHub</a:t>
            </a:r>
            <a:endParaRPr b="1" sz="3300">
              <a:solidFill>
                <a:schemeClr val="lt1"/>
              </a:solidFill>
            </a:endParaRPr>
          </a:p>
        </p:txBody>
      </p:sp>
      <p:sp>
        <p:nvSpPr>
          <p:cNvPr id="140" name="Google Shape;140;p18"/>
          <p:cNvSpPr txBox="1"/>
          <p:nvPr/>
        </p:nvSpPr>
        <p:spPr>
          <a:xfrm>
            <a:off x="2265450" y="7280350"/>
            <a:ext cx="100995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chemeClr val="lt1"/>
                </a:solidFill>
              </a:rPr>
              <a:t>https://github.com/88venom14/DiseaseHandbook</a:t>
            </a:r>
            <a:endParaRPr b="1" sz="3300">
              <a:solidFill>
                <a:schemeClr val="lt1"/>
              </a:solidFill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9"/>
          <p:cNvSpPr txBox="1"/>
          <p:nvPr/>
        </p:nvSpPr>
        <p:spPr>
          <a:xfrm>
            <a:off x="3244350" y="3060450"/>
            <a:ext cx="8141700" cy="21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Montserrat"/>
              <a:buNone/>
            </a:pPr>
            <a:r>
              <a:rPr b="1" lang="en-US"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Спасибо за внимание</a:t>
            </a:r>
            <a:endParaRPr sz="52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0">
              <a:solidFill>
                <a:schemeClr val="lt1"/>
              </a:solidFill>
            </a:endParaRPr>
          </a:p>
        </p:txBody>
      </p:sp>
      <p:graphicFrame>
        <p:nvGraphicFramePr>
          <p:cNvPr id="147" name="Google Shape;147;p19"/>
          <p:cNvGraphicFramePr/>
          <p:nvPr/>
        </p:nvGraphicFramePr>
        <p:xfrm>
          <a:off x="9357525" y="5116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{E28478FD-A41A-4FFA-B756-52F0DB401186}</a:tableStyleId>
              </a:tblPr>
              <a:tblGrid>
                <a:gridCol w="5272875"/>
              </a:tblGrid>
              <a:tr h="3112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21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181A1B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